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247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3E062-F9E5-A7B7-6B9C-3793211A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B4B41-1E3A-9408-291F-C169F9F97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D977D-32B0-25FE-27B4-38225EF97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11424-8B3C-1600-9075-F58888CD07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18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3110-8191-60B9-B51A-EC7045650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02E3D-4147-A3BF-22FA-A8ADDECCB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17CDC-B76F-1FB8-8056-007805655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E81B0-2ACE-D600-298B-1712B7263B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12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EBC80-8CB0-A172-5B4E-3936DA516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16CC0-A982-44A0-D462-C8BF50129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13CEC-89E6-FF3E-E809-7A8FB9389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615ED-9256-5120-E436-DFC99928C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18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201168" cy="50703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2342"/>
                </a:solidFill>
              </a:rPr>
              <a:t>WEEK 02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600">
                <a:solidFill>
                  <a:srgbClr val="7A95B0"/>
                </a:solidFill>
              </a:rPr>
              <a:t>PROJECT WORK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</a:rPr>
              <a:t>Weekly Progress</a:t>
            </a:r>
            <a:endParaRPr lang="en-US" sz="4000"/>
          </a:p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</a:rPr>
              <a:t>Report</a:t>
            </a:r>
            <a:endParaRPr lang="en-US" sz="400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2ECC71"/>
                </a:solidFill>
              </a:rPr>
              <a:t>Recycling Injection Machine &amp; 3D Printed Tool Optimization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675120" y="1005840"/>
            <a:ext cx="228600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0" y="1234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A95B0"/>
                </a:solidFill>
              </a:rPr>
              <a:t>PARTNER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6858000" y="1435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Plastic Cup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(PET Kupa)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858000" y="2286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A95B0"/>
                </a:solidFill>
              </a:rPr>
              <a:t>DATE</a:t>
            </a:r>
            <a:endParaRPr lang="en-US" sz="800"/>
          </a:p>
        </p:txBody>
      </p:sp>
      <p:sp>
        <p:nvSpPr>
          <p:cNvPr id="13" name="Text 11"/>
          <p:cNvSpPr/>
          <p:nvPr/>
        </p:nvSpPr>
        <p:spPr>
          <a:xfrm>
            <a:off x="6858000" y="2487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24 Feb 2026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6858000" y="3337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A95B0"/>
                </a:solidFill>
              </a:rPr>
              <a:t>PHASE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6858000" y="35387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Specification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Budapest University of Technology and Economics  ·  Dept. of Machine and Product Design  ·  Dr. Viktor Gotthard</a:t>
            </a:r>
            <a:endParaRPr lang="en-US" sz="9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81CF93-E00F-860D-5C04-8BD18F5C098E}"/>
              </a:ext>
            </a:extLst>
          </p:cNvPr>
          <p:cNvSpPr txBox="1"/>
          <p:nvPr/>
        </p:nvSpPr>
        <p:spPr>
          <a:xfrm>
            <a:off x="457200" y="3262547"/>
            <a:ext cx="161614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bg2"/>
                </a:solidFill>
              </a:rPr>
              <a:t>Abed Alrahman Marai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bg2"/>
                </a:solidFill>
              </a:rPr>
              <a:t>Emir Sukru Birdal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bg2"/>
                </a:solidFill>
              </a:rPr>
              <a:t>Bashar </a:t>
            </a:r>
            <a:r>
              <a:rPr lang="en-US" sz="1100" err="1">
                <a:solidFill>
                  <a:schemeClr val="bg2"/>
                </a:solidFill>
              </a:rPr>
              <a:t>Darwazeh</a:t>
            </a:r>
            <a:endParaRPr lang="en-US" sz="110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bg2"/>
                </a:solidFill>
              </a:rPr>
              <a:t>Ingynn Khet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bg2"/>
                </a:solidFill>
              </a:rPr>
              <a:t>Nomin-Erdene Tsogt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WEEK 01 AGENDA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64592" cy="1463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DDE3EB"/>
                </a:solidFill>
              </a:rPr>
              <a:t>01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576072" y="1691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3A"/>
                </a:solidFill>
              </a:rPr>
              <a:t>Task Clarification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76072" y="2103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6080"/>
                </a:solidFill>
              </a:rPr>
              <a:t>Understanding the brief, partner discussion, defining scope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164592" cy="1463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56632" y="13258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DDE3EB"/>
                </a:solidFill>
              </a:rPr>
              <a:t>02</a:t>
            </a:r>
            <a:endParaRPr lang="en-US" sz="2600"/>
          </a:p>
        </p:txBody>
      </p:sp>
      <p:sp>
        <p:nvSpPr>
          <p:cNvPr id="13" name="Text 11"/>
          <p:cNvSpPr/>
          <p:nvPr/>
        </p:nvSpPr>
        <p:spPr>
          <a:xfrm>
            <a:off x="5056632" y="1691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3A"/>
                </a:solidFill>
              </a:rPr>
              <a:t>Market &amp; Literature Research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5056632" y="2103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6080"/>
                </a:solidFill>
              </a:rPr>
              <a:t>Existing solutions, competitor analysis, state of the art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164592" cy="1463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" y="2971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DDE3EB"/>
                </a:solidFill>
              </a:rPr>
              <a:t>03</a:t>
            </a:r>
            <a:endParaRPr lang="en-US" sz="2600"/>
          </a:p>
        </p:txBody>
      </p:sp>
      <p:sp>
        <p:nvSpPr>
          <p:cNvPr id="18" name="Text 16"/>
          <p:cNvSpPr/>
          <p:nvPr/>
        </p:nvSpPr>
        <p:spPr>
          <a:xfrm>
            <a:off x="576072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3A"/>
                </a:solidFill>
              </a:rPr>
              <a:t>Project Management Setup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576072" y="3749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6080"/>
                </a:solidFill>
              </a:rPr>
              <a:t>Team roles, GANTT chart, milestone planning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828032" y="281178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2834640"/>
            <a:ext cx="164592" cy="1463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56632" y="2971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DDE3EB"/>
                </a:solidFill>
              </a:rPr>
              <a:t>04</a:t>
            </a:r>
            <a:endParaRPr lang="en-US" sz="2600"/>
          </a:p>
        </p:txBody>
      </p:sp>
      <p:sp>
        <p:nvSpPr>
          <p:cNvPr id="23" name="Text 21"/>
          <p:cNvSpPr/>
          <p:nvPr/>
        </p:nvSpPr>
        <p:spPr>
          <a:xfrm>
            <a:off x="5056632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B3A"/>
                </a:solidFill>
              </a:rPr>
              <a:t>Next Steps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5056632" y="3749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6080"/>
                </a:solidFill>
              </a:rPr>
              <a:t>Tasks for next week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Project Work  ·  Week 01  ·  BME GT3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01  |  Task Clarification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FFFFF"/>
                </a:solidFill>
              </a:rPr>
              <a:t>INDUSTRIAL PARTNER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657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1C2B3A"/>
                </a:solidFill>
              </a:rPr>
              <a:t>Plastic Cup / PET Kupa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1C2B3A"/>
                </a:solidFill>
              </a:rPr>
              <a:t>Hungarian environmental NGO focused on river clean-up campaigns and recycling education. Works with the Precious Plastic open-source platform.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 i="1">
                <a:solidFill>
                  <a:srgbClr val="1C2B3A"/>
                </a:solidFill>
              </a:rPr>
              <a:t>Websites: petkupa.hu | riversaver.eu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6052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FFFFF"/>
                </a:solidFill>
              </a:rPr>
              <a:t>TASK OVERVIEW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164592" cy="10058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A"/>
                </a:solidFill>
              </a:rPr>
              <a:t>Task #1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919472" y="19019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6080"/>
                </a:solidFill>
              </a:rPr>
              <a:t>Recycling injection machine optimization – learn operation, troubleshoot, create problem map, propose improvements.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164592" cy="10058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19472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2B3A"/>
                </a:solidFill>
              </a:rPr>
              <a:t>Task #2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919472" y="304495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A6080"/>
                </a:solidFill>
              </a:rPr>
              <a:t>3D printed injection tool optimization – assess current status, troubleshoot mold issues, redesign &amp; optimize for production.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663440" y="3977640"/>
            <a:ext cx="4160520" cy="530352"/>
          </a:xfrm>
          <a:prstGeom prst="rect">
            <a:avLst/>
          </a:prstGeom>
          <a:solidFill>
            <a:srgbClr val="FFF9E6"/>
          </a:solidFill>
          <a:ln w="12700">
            <a:solidFill>
              <a:srgbClr val="F0D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397764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⚑  Both tasks require: learn &amp; test → problem map → redesign → 3D model → 2D drawings → documentation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Project Work  ·  Week 01  ·  BME GT3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02  |  Market &amp; Literature Research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6858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Precious Plastic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Ecosystem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Open-source injection molding machine designs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Community-built tools &amp; documentation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Injection v3 &amp; v4 – known limitations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3D-printed mold feasibility studies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227832" y="109728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27832" y="1097280"/>
            <a:ext cx="2743200" cy="6858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64992" y="1097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Injection Molding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State of the Art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3364992" y="18745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Clamping force requirements for HDPE / PP / PET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Mold temperature &amp; cycle time benchmarks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Small-scale desktop injection solutions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Key failure modes (flash, sink, short shot)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135624" y="109728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35624" y="1097280"/>
            <a:ext cx="27432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72784" y="1097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Competitor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Products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6272784" y="187452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Holipress, Hozpot (low-volume injection)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Precious Plastic Universe machine catalog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RepRap-derived injection machines</a:t>
            </a:r>
            <a:endParaRPr lang="en-US" sz="105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C2B3A"/>
                </a:solidFill>
              </a:rPr>
              <a:t>Commercial micro-injection options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320040" y="4617720"/>
            <a:ext cx="8503920" cy="914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Project Work  ·  Week 01  ·  BME GT3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03  |  Project Management Setup</a:t>
            </a:r>
            <a:endParaRPr lang="en-US" sz="2600"/>
          </a:p>
        </p:txBody>
      </p:sp>
      <p:sp>
        <p:nvSpPr>
          <p:cNvPr id="5" name="Shape 3"/>
          <p:cNvSpPr>
            <a:spLocks/>
          </p:cNvSpPr>
          <p:nvPr/>
        </p:nvSpPr>
        <p:spPr>
          <a:xfrm>
            <a:off x="333756" y="1394460"/>
            <a:ext cx="3200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20040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FFFFF"/>
                </a:solidFill>
              </a:rPr>
              <a:t>TEAM ROLES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6276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Abed Alrahman Marai</a:t>
            </a:r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Overall coordination, communication with industrial partner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768" y="2564892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Abed Alrahman Marai</a:t>
            </a:r>
          </a:p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Emir Sukru Birdal</a:t>
            </a:r>
          </a:p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Bashar </a:t>
            </a:r>
            <a:r>
              <a:rPr lang="en-US" sz="1100" b="1" err="1">
                <a:solidFill>
                  <a:srgbClr val="1C2B3A"/>
                </a:solidFill>
              </a:rPr>
              <a:t>Darwazeh</a:t>
            </a:r>
            <a:endParaRPr lang="en-US" sz="1100" b="1">
              <a:solidFill>
                <a:srgbClr val="1C2B3A"/>
              </a:solidFill>
            </a:endParaRPr>
          </a:p>
          <a:p>
            <a:pPr marL="0" indent="0">
              <a:buNone/>
            </a:pPr>
            <a:endParaRPr lang="en-US" sz="1100" b="1">
              <a:solidFill>
                <a:srgbClr val="1C2B3A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291465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6080"/>
                </a:solidFill>
              </a:rPr>
              <a:t>Machine, Material &amp; Mold analysis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713232" y="31638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713232" y="34107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57199" y="3419856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43550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Ingynn Khet</a:t>
            </a:r>
          </a:p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Nomin-Erdene Tsogt</a:t>
            </a:r>
          </a:p>
        </p:txBody>
      </p:sp>
      <p:sp>
        <p:nvSpPr>
          <p:cNvPr id="19" name="Text 17"/>
          <p:cNvSpPr/>
          <p:nvPr/>
        </p:nvSpPr>
        <p:spPr>
          <a:xfrm>
            <a:off x="667512" y="3684153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6080"/>
                </a:solidFill>
              </a:rPr>
              <a:t>Market &amp; Literature research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3749040" y="1097280"/>
            <a:ext cx="5074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49040" y="1097280"/>
            <a:ext cx="507492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0" y="109728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FFFFFF"/>
                </a:solidFill>
              </a:rPr>
              <a:t>GANTT CHART – KEY MILESTONES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38862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W1</a:t>
            </a:r>
            <a:endParaRPr lang="en-US" sz="750"/>
          </a:p>
        </p:txBody>
      </p:sp>
      <p:sp>
        <p:nvSpPr>
          <p:cNvPr id="24" name="Text 22"/>
          <p:cNvSpPr/>
          <p:nvPr/>
        </p:nvSpPr>
        <p:spPr>
          <a:xfrm>
            <a:off x="45720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W3</a:t>
            </a:r>
            <a:endParaRPr lang="en-US" sz="750"/>
          </a:p>
        </p:txBody>
      </p:sp>
      <p:sp>
        <p:nvSpPr>
          <p:cNvPr id="25" name="Text 23"/>
          <p:cNvSpPr/>
          <p:nvPr/>
        </p:nvSpPr>
        <p:spPr>
          <a:xfrm>
            <a:off x="52578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W5</a:t>
            </a:r>
            <a:endParaRPr lang="en-US" sz="750"/>
          </a:p>
        </p:txBody>
      </p:sp>
      <p:sp>
        <p:nvSpPr>
          <p:cNvPr id="26" name="Text 24"/>
          <p:cNvSpPr/>
          <p:nvPr/>
        </p:nvSpPr>
        <p:spPr>
          <a:xfrm>
            <a:off x="59436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W7</a:t>
            </a:r>
            <a:endParaRPr lang="en-US" sz="750"/>
          </a:p>
        </p:txBody>
      </p:sp>
      <p:sp>
        <p:nvSpPr>
          <p:cNvPr id="27" name="Text 25"/>
          <p:cNvSpPr/>
          <p:nvPr/>
        </p:nvSpPr>
        <p:spPr>
          <a:xfrm>
            <a:off x="66294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W9</a:t>
            </a:r>
            <a:endParaRPr lang="en-US" sz="750"/>
          </a:p>
        </p:txBody>
      </p:sp>
      <p:sp>
        <p:nvSpPr>
          <p:cNvPr id="28" name="Text 26"/>
          <p:cNvSpPr/>
          <p:nvPr/>
        </p:nvSpPr>
        <p:spPr>
          <a:xfrm>
            <a:off x="73152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W11</a:t>
            </a:r>
            <a:endParaRPr lang="en-US" sz="750"/>
          </a:p>
        </p:txBody>
      </p:sp>
      <p:sp>
        <p:nvSpPr>
          <p:cNvPr id="29" name="Text 27"/>
          <p:cNvSpPr/>
          <p:nvPr/>
        </p:nvSpPr>
        <p:spPr>
          <a:xfrm>
            <a:off x="8001000" y="13716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7A95B0"/>
                </a:solidFill>
              </a:rPr>
              <a:t>W13</a:t>
            </a:r>
            <a:endParaRPr lang="en-US" sz="750"/>
          </a:p>
        </p:txBody>
      </p:sp>
      <p:sp>
        <p:nvSpPr>
          <p:cNvPr id="30" name="Text 28"/>
          <p:cNvSpPr/>
          <p:nvPr/>
        </p:nvSpPr>
        <p:spPr>
          <a:xfrm>
            <a:off x="3886200" y="1673352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BBBBBB"/>
                </a:solidFill>
              </a:rPr>
              <a:t>Task clarification &amp; research</a:t>
            </a:r>
            <a:endParaRPr lang="en-US" sz="650"/>
          </a:p>
        </p:txBody>
      </p:sp>
      <p:sp>
        <p:nvSpPr>
          <p:cNvPr id="31" name="Shape 29"/>
          <p:cNvSpPr/>
          <p:nvPr/>
        </p:nvSpPr>
        <p:spPr>
          <a:xfrm>
            <a:off x="3886200" y="1865376"/>
            <a:ext cx="685800" cy="201168"/>
          </a:xfrm>
          <a:prstGeom prst="rect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922776" y="1865376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SPEC</a:t>
            </a:r>
            <a:endParaRPr lang="en-US" sz="700"/>
          </a:p>
        </p:txBody>
      </p:sp>
      <p:sp>
        <p:nvSpPr>
          <p:cNvPr id="33" name="Text 31"/>
          <p:cNvSpPr/>
          <p:nvPr/>
        </p:nvSpPr>
        <p:spPr>
          <a:xfrm>
            <a:off x="3886200" y="2130552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BBBBBB"/>
                </a:solidFill>
              </a:rPr>
              <a:t>Requirements + GANTT</a:t>
            </a:r>
            <a:endParaRPr lang="en-US" sz="650"/>
          </a:p>
        </p:txBody>
      </p:sp>
      <p:sp>
        <p:nvSpPr>
          <p:cNvPr id="34" name="Shape 32"/>
          <p:cNvSpPr/>
          <p:nvPr/>
        </p:nvSpPr>
        <p:spPr>
          <a:xfrm>
            <a:off x="4229100" y="2322576"/>
            <a:ext cx="685800" cy="201168"/>
          </a:xfrm>
          <a:prstGeom prst="rect">
            <a:avLst/>
          </a:prstGeom>
          <a:solidFill>
            <a:srgbClr val="2ECC71">
              <a:alpha val="90000"/>
            </a:srgbClr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65676" y="2322576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SPEC</a:t>
            </a:r>
            <a:endParaRPr lang="en-US" sz="700"/>
          </a:p>
        </p:txBody>
      </p:sp>
      <p:sp>
        <p:nvSpPr>
          <p:cNvPr id="36" name="Text 34"/>
          <p:cNvSpPr/>
          <p:nvPr/>
        </p:nvSpPr>
        <p:spPr>
          <a:xfrm>
            <a:off x="3886200" y="2587752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BBBBBB"/>
                </a:solidFill>
              </a:rPr>
              <a:t>Function structure + morphological matrix</a:t>
            </a:r>
            <a:endParaRPr lang="en-US" sz="650"/>
          </a:p>
        </p:txBody>
      </p:sp>
      <p:sp>
        <p:nvSpPr>
          <p:cNvPr id="37" name="Shape 35"/>
          <p:cNvSpPr/>
          <p:nvPr/>
        </p:nvSpPr>
        <p:spPr>
          <a:xfrm>
            <a:off x="4914900" y="2779776"/>
            <a:ext cx="685800" cy="201168"/>
          </a:xfrm>
          <a:prstGeom prst="rect">
            <a:avLst/>
          </a:prstGeom>
          <a:solidFill>
            <a:srgbClr val="2E5FA3">
              <a:alpha val="90000"/>
            </a:srgbClr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51476" y="2779776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CONCEPT</a:t>
            </a:r>
            <a:endParaRPr lang="en-US" sz="700"/>
          </a:p>
        </p:txBody>
      </p:sp>
      <p:sp>
        <p:nvSpPr>
          <p:cNvPr id="39" name="Text 37"/>
          <p:cNvSpPr/>
          <p:nvPr/>
        </p:nvSpPr>
        <p:spPr>
          <a:xfrm>
            <a:off x="3886200" y="3044952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BBBBBB"/>
                </a:solidFill>
              </a:rPr>
              <a:t>Concept development &amp; decision</a:t>
            </a:r>
            <a:endParaRPr lang="en-US" sz="650"/>
          </a:p>
        </p:txBody>
      </p:sp>
      <p:sp>
        <p:nvSpPr>
          <p:cNvPr id="40" name="Shape 38"/>
          <p:cNvSpPr/>
          <p:nvPr/>
        </p:nvSpPr>
        <p:spPr>
          <a:xfrm>
            <a:off x="5257800" y="3236976"/>
            <a:ext cx="685800" cy="201168"/>
          </a:xfrm>
          <a:prstGeom prst="rect">
            <a:avLst/>
          </a:prstGeom>
          <a:solidFill>
            <a:srgbClr val="2E5FA3">
              <a:alpha val="90000"/>
            </a:srgbClr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94376" y="3236976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CONCEPT</a:t>
            </a:r>
            <a:endParaRPr lang="en-US" sz="700"/>
          </a:p>
        </p:txBody>
      </p:sp>
      <p:sp>
        <p:nvSpPr>
          <p:cNvPr id="42" name="Text 40"/>
          <p:cNvSpPr/>
          <p:nvPr/>
        </p:nvSpPr>
        <p:spPr>
          <a:xfrm>
            <a:off x="3886200" y="3502152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BBBBBB"/>
                </a:solidFill>
              </a:rPr>
              <a:t>3D modelling + detail design</a:t>
            </a:r>
            <a:endParaRPr lang="en-US" sz="650"/>
          </a:p>
        </p:txBody>
      </p:sp>
      <p:sp>
        <p:nvSpPr>
          <p:cNvPr id="43" name="Shape 41"/>
          <p:cNvSpPr/>
          <p:nvPr/>
        </p:nvSpPr>
        <p:spPr>
          <a:xfrm>
            <a:off x="5943600" y="3694176"/>
            <a:ext cx="1714500" cy="201168"/>
          </a:xfrm>
          <a:prstGeom prst="rect">
            <a:avLst/>
          </a:prstGeom>
          <a:solidFill>
            <a:srgbClr val="1A3A6B">
              <a:alpha val="90000"/>
            </a:srgbClr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80176" y="3694176"/>
            <a:ext cx="16413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DESIGN</a:t>
            </a:r>
            <a:endParaRPr lang="en-US" sz="700"/>
          </a:p>
        </p:txBody>
      </p:sp>
      <p:sp>
        <p:nvSpPr>
          <p:cNvPr id="45" name="Text 43"/>
          <p:cNvSpPr/>
          <p:nvPr/>
        </p:nvSpPr>
        <p:spPr>
          <a:xfrm>
            <a:off x="3886200" y="3959352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>
                <a:solidFill>
                  <a:srgbClr val="BBBBBB"/>
                </a:solidFill>
              </a:rPr>
              <a:t>Documentation + 2D drawings</a:t>
            </a:r>
            <a:endParaRPr lang="en-US" sz="650"/>
          </a:p>
        </p:txBody>
      </p:sp>
      <p:sp>
        <p:nvSpPr>
          <p:cNvPr id="46" name="Shape 44"/>
          <p:cNvSpPr/>
          <p:nvPr/>
        </p:nvSpPr>
        <p:spPr>
          <a:xfrm>
            <a:off x="7315200" y="4151376"/>
            <a:ext cx="1028700" cy="201168"/>
          </a:xfrm>
          <a:prstGeom prst="rect">
            <a:avLst/>
          </a:prstGeom>
          <a:solidFill>
            <a:srgbClr val="7B4F2E">
              <a:alpha val="90000"/>
            </a:srgbClr>
          </a:solidFill>
          <a:ln w="12700">
            <a:solidFill>
              <a:srgbClr val="7B4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51776" y="4151376"/>
            <a:ext cx="9555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DOC</a:t>
            </a:r>
            <a:endParaRPr lang="en-US" sz="700"/>
          </a:p>
        </p:txBody>
      </p:sp>
      <p:sp>
        <p:nvSpPr>
          <p:cNvPr id="48" name="Shape 46"/>
          <p:cNvSpPr/>
          <p:nvPr/>
        </p:nvSpPr>
        <p:spPr>
          <a:xfrm>
            <a:off x="5943600" y="1591056"/>
            <a:ext cx="0" cy="283464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852160" y="4425696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E74C3C"/>
                </a:solidFill>
              </a:rPr>
              <a:t>Mid</a:t>
            </a:r>
            <a:endParaRPr lang="en-US" sz="700"/>
          </a:p>
        </p:txBody>
      </p:sp>
      <p:sp>
        <p:nvSpPr>
          <p:cNvPr id="50" name="Shape 48"/>
          <p:cNvSpPr/>
          <p:nvPr/>
        </p:nvSpPr>
        <p:spPr>
          <a:xfrm>
            <a:off x="8343900" y="1591056"/>
            <a:ext cx="0" cy="283464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34172" y="442569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E74C3C"/>
                </a:solidFill>
              </a:rPr>
              <a:t>Final</a:t>
            </a:r>
            <a:endParaRPr lang="en-US" sz="700"/>
          </a:p>
        </p:txBody>
      </p:sp>
      <p:sp>
        <p:nvSpPr>
          <p:cNvPr id="52" name="Shape 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Project Work  ·  Week 01  ·  BME GT3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</a:rPr>
              <a:t>04  |  Tasks for Next Week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931920" cy="38404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FFFFFF"/>
                </a:solidFill>
              </a:rPr>
              <a:t>✔  COMPLETED THIS WEEK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1C2B3A"/>
                </a:solidFill>
              </a:rPr>
              <a:t>Initial task clarification &amp; scope definition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1C2B3A"/>
                </a:solidFill>
              </a:rPr>
              <a:t>Market overview: Precious Plastic ecosystem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1C2B3A"/>
                </a:solidFill>
              </a:rPr>
              <a:t>Literature review: small-scale injection processes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1C2B3A"/>
                </a:solidFill>
              </a:rPr>
              <a:t>Team formed: roles &amp; leader assigned</a:t>
            </a:r>
            <a:endParaRPr lang="en-US" sz="1100"/>
          </a:p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1C2B3A"/>
                </a:solidFill>
              </a:rPr>
              <a:t>GANTT chart draft created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480560" y="1097280"/>
            <a:ext cx="4343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80560" y="1097280"/>
            <a:ext cx="4343400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09728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FFFFFF"/>
                </a:solidFill>
              </a:rPr>
              <a:t>→  TASKS FOR WEEK 03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480560" y="1600200"/>
            <a:ext cx="137160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6002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r>
              <a:rPr lang="en-US" sz="1100" b="1"/>
              <a:t>Discussion with industrial partner (Plastic Cup)</a:t>
            </a:r>
          </a:p>
        </p:txBody>
      </p:sp>
      <p:sp>
        <p:nvSpPr>
          <p:cNvPr id="14" name="Text 12"/>
          <p:cNvSpPr/>
          <p:nvPr/>
        </p:nvSpPr>
        <p:spPr>
          <a:xfrm>
            <a:off x="4709160" y="1874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6080"/>
                </a:solidFill>
              </a:rPr>
              <a:t>Discuss the spec of the injection machine with the partner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480560" y="2404872"/>
            <a:ext cx="137160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2404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Problem map creation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709160" y="2679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6080"/>
                </a:solidFill>
              </a:rPr>
              <a:t>Document identified issues: mechanical, thermal, usability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480560" y="3209544"/>
            <a:ext cx="137160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32095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Requirements list (draft)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709160" y="34838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6080"/>
                </a:solidFill>
              </a:rPr>
              <a:t>Quantified baseline, interval &amp; wish-level requirements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480560" y="4014216"/>
            <a:ext cx="137160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4014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3A"/>
                </a:solidFill>
              </a:rPr>
              <a:t>Concept sketches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4899660" y="42576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6080"/>
                </a:solidFill>
              </a:rPr>
              <a:t>Freehand sketches of possible improvement directions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Project Work  ·  Week 01  ·  BME GT3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1C932-6678-F9A2-7463-A3B8B87B8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E4DF6E-6CB2-E14E-C428-9037128FFDDF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F26A5A-2356-9B58-6A3C-2F80AB191C4B}"/>
              </a:ext>
            </a:extLst>
          </p:cNvPr>
          <p:cNvSpPr/>
          <p:nvPr/>
        </p:nvSpPr>
        <p:spPr>
          <a:xfrm>
            <a:off x="0" y="73152"/>
            <a:ext cx="201168" cy="50703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91BDFD8-A6CD-FC89-2DCF-9B712C193258}"/>
              </a:ext>
            </a:extLst>
          </p:cNvPr>
          <p:cNvSpPr/>
          <p:nvPr/>
        </p:nvSpPr>
        <p:spPr>
          <a:xfrm>
            <a:off x="457200" y="1005840"/>
            <a:ext cx="146304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FA28879-1E25-363E-85AE-E12CDE240FF6}"/>
              </a:ext>
            </a:extLst>
          </p:cNvPr>
          <p:cNvSpPr/>
          <p:nvPr/>
        </p:nvSpPr>
        <p:spPr>
          <a:xfrm>
            <a:off x="45720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WEEK 03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7B1ADD4-D16D-FE37-87A8-7BA280070BEE}"/>
              </a:ext>
            </a:extLst>
          </p:cNvPr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600" dirty="0">
                <a:solidFill>
                  <a:schemeClr val="tx2">
                    <a:lumMod val="50000"/>
                  </a:schemeClr>
                </a:solidFill>
              </a:rPr>
              <a:t>PROJECT WORK</a:t>
            </a:r>
            <a:endParaRPr lang="en-US" sz="11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E1312A-DEB5-FC5B-A544-889DF332E5FF}"/>
              </a:ext>
            </a:extLst>
          </p:cNvPr>
          <p:cNvSpPr/>
          <p:nvPr/>
        </p:nvSpPr>
        <p:spPr>
          <a:xfrm>
            <a:off x="457200" y="15087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Weekly Progress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Report</a:t>
            </a:r>
            <a:endParaRPr lang="en-US" sz="4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FA67F5-B0CE-E14F-53E9-ECFDF1FBCFFC}"/>
              </a:ext>
            </a:extLst>
          </p:cNvPr>
          <p:cNvSpPr/>
          <p:nvPr/>
        </p:nvSpPr>
        <p:spPr>
          <a:xfrm>
            <a:off x="457200" y="26974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2ECC71"/>
                </a:solidFill>
              </a:rPr>
              <a:t>Recycling Injection Machine &amp; 3D Printed Tool Optimization</a:t>
            </a:r>
            <a:endParaRPr lang="en-US" sz="1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662B428-43F0-8151-A96C-DD3FA43825BE}"/>
              </a:ext>
            </a:extLst>
          </p:cNvPr>
          <p:cNvSpPr/>
          <p:nvPr/>
        </p:nvSpPr>
        <p:spPr>
          <a:xfrm>
            <a:off x="6675120" y="1005840"/>
            <a:ext cx="2286000" cy="3474720"/>
          </a:xfrm>
          <a:prstGeom prst="rect">
            <a:avLst/>
          </a:prstGeom>
          <a:solidFill>
            <a:srgbClr val="1A3A6B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6C532E9-6521-ED9A-300C-7D284E5DD058}"/>
              </a:ext>
            </a:extLst>
          </p:cNvPr>
          <p:cNvSpPr/>
          <p:nvPr/>
        </p:nvSpPr>
        <p:spPr>
          <a:xfrm>
            <a:off x="6858000" y="1234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A95B0"/>
                </a:solidFill>
              </a:rPr>
              <a:t>PARTNER</a:t>
            </a:r>
            <a:endParaRPr lang="en-US" sz="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1A89087-33FA-6E2C-1EE7-0B442F4BDAF9}"/>
              </a:ext>
            </a:extLst>
          </p:cNvPr>
          <p:cNvSpPr/>
          <p:nvPr/>
        </p:nvSpPr>
        <p:spPr>
          <a:xfrm>
            <a:off x="6858000" y="1435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Plastic Cup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(PET Kupa)</a:t>
            </a:r>
            <a:endParaRPr lang="en-US"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861B148-AFC2-A4B3-1017-45AB0D02E4E3}"/>
              </a:ext>
            </a:extLst>
          </p:cNvPr>
          <p:cNvSpPr/>
          <p:nvPr/>
        </p:nvSpPr>
        <p:spPr>
          <a:xfrm>
            <a:off x="6858000" y="2286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A95B0"/>
                </a:solidFill>
              </a:rPr>
              <a:t>DATE</a:t>
            </a:r>
            <a:endParaRPr lang="en-US" sz="8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79497C9-8CA2-060F-4083-DF7D79936E81}"/>
              </a:ext>
            </a:extLst>
          </p:cNvPr>
          <p:cNvSpPr/>
          <p:nvPr/>
        </p:nvSpPr>
        <p:spPr>
          <a:xfrm>
            <a:off x="6858000" y="2487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March 2026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835302C-75DE-4F1D-9721-A54FAB08FE19}"/>
              </a:ext>
            </a:extLst>
          </p:cNvPr>
          <p:cNvSpPr/>
          <p:nvPr/>
        </p:nvSpPr>
        <p:spPr>
          <a:xfrm>
            <a:off x="6858000" y="3337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7A95B0"/>
                </a:solidFill>
              </a:rPr>
              <a:t>PHASE</a:t>
            </a:r>
            <a:endParaRPr lang="en-US" sz="8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6A014F9-80B1-9144-071C-E880D3D5B41B}"/>
              </a:ext>
            </a:extLst>
          </p:cNvPr>
          <p:cNvSpPr/>
          <p:nvPr/>
        </p:nvSpPr>
        <p:spPr>
          <a:xfrm>
            <a:off x="6858000" y="35387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Information Collection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79DEF2-FFFF-0F71-D3E0-B21EFCD91258}"/>
              </a:ext>
            </a:extLst>
          </p:cNvPr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95B0"/>
                </a:solidFill>
              </a:rPr>
              <a:t>Budapest University of Technology and Economics  ·  Dept. of Machine and Product Design  ·  Dr. Viktor Gotthard</a:t>
            </a:r>
            <a:endParaRPr lang="en-US" sz="9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93E068-C3BF-9CA1-71D4-5C9B7BFC0BE0}"/>
              </a:ext>
            </a:extLst>
          </p:cNvPr>
          <p:cNvSpPr txBox="1"/>
          <p:nvPr/>
        </p:nvSpPr>
        <p:spPr>
          <a:xfrm>
            <a:off x="457200" y="3262547"/>
            <a:ext cx="161614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>
                    <a:lumMod val="50000"/>
                  </a:schemeClr>
                </a:solidFill>
              </a:rPr>
              <a:t>Abed Alrahman Marai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>
                    <a:lumMod val="50000"/>
                  </a:schemeClr>
                </a:solidFill>
              </a:rPr>
              <a:t>Emir Sukru Birdal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>
                    <a:lumMod val="50000"/>
                  </a:schemeClr>
                </a:solidFill>
              </a:rPr>
              <a:t>Bashar </a:t>
            </a:r>
            <a:r>
              <a:rPr lang="en-US" sz="1100" dirty="0" err="1">
                <a:solidFill>
                  <a:schemeClr val="tx2">
                    <a:lumMod val="50000"/>
                  </a:schemeClr>
                </a:solidFill>
              </a:rPr>
              <a:t>Darwazeh</a:t>
            </a:r>
            <a:endParaRPr lang="en-US" sz="1100" dirty="0">
              <a:solidFill>
                <a:schemeClr val="tx2">
                  <a:lumMod val="50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tx2">
                    <a:lumMod val="50000"/>
                  </a:schemeClr>
                </a:solidFill>
              </a:rPr>
              <a:t>Ingynn</a:t>
            </a:r>
            <a:r>
              <a:rPr lang="en-US" sz="1100" dirty="0">
                <a:solidFill>
                  <a:schemeClr val="tx2">
                    <a:lumMod val="50000"/>
                  </a:schemeClr>
                </a:solidFill>
              </a:rPr>
              <a:t> Khet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>
                    <a:lumMod val="50000"/>
                  </a:schemeClr>
                </a:solidFill>
              </a:rPr>
              <a:t>Nomin-Erdene Tsogt</a:t>
            </a:r>
          </a:p>
        </p:txBody>
      </p:sp>
    </p:spTree>
    <p:extLst>
      <p:ext uri="{BB962C8B-B14F-4D97-AF65-F5344CB8AC3E}">
        <p14:creationId xmlns:p14="http://schemas.microsoft.com/office/powerpoint/2010/main" val="3648238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BFDAC-D7FB-C125-924E-A35EB4CC9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B7A37E-14A3-DA2F-5715-565D4A5D2B43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8B14B2-7942-1ADC-0E18-F12D2EE13ABE}"/>
              </a:ext>
            </a:extLst>
          </p:cNvPr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8D67B4-DC0C-F2FB-1932-8A23B388205B}"/>
              </a:ext>
            </a:extLst>
          </p:cNvPr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</a:rPr>
              <a:t>Parameters to Consider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F730043-667E-B42C-26E2-24BE4498DAD8}"/>
              </a:ext>
            </a:extLst>
          </p:cNvPr>
          <p:cNvSpPr/>
          <p:nvPr/>
        </p:nvSpPr>
        <p:spPr>
          <a:xfrm>
            <a:off x="320040" y="1188720"/>
            <a:ext cx="4206240" cy="77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D4826B8-0E0A-727D-92E5-58DABA28FE71}"/>
              </a:ext>
            </a:extLst>
          </p:cNvPr>
          <p:cNvSpPr/>
          <p:nvPr/>
        </p:nvSpPr>
        <p:spPr>
          <a:xfrm>
            <a:off x="320040" y="1188720"/>
            <a:ext cx="164592" cy="7741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B5E5E20-0393-5ACE-2BAB-40A17412B5E4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6C3246D-0FA8-7DC1-6B1C-2F14F62E8C08}"/>
              </a:ext>
            </a:extLst>
          </p:cNvPr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B0"/>
                </a:solidFill>
              </a:rPr>
              <a:t>Project Work  ·  Week 03  ·  BME GT3</a:t>
            </a:r>
            <a:endParaRPr lang="en-US" sz="9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4B2C29-9B4B-E318-8EDB-0DB59EB882C4}"/>
              </a:ext>
            </a:extLst>
          </p:cNvPr>
          <p:cNvSpPr txBox="1"/>
          <p:nvPr/>
        </p:nvSpPr>
        <p:spPr>
          <a:xfrm>
            <a:off x="555342" y="1276330"/>
            <a:ext cx="39113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Pressure During Injection:</a:t>
            </a:r>
          </a:p>
          <a:p>
            <a:r>
              <a:rPr lang="en-US" sz="950" dirty="0"/>
              <a:t>To prevent mold failure, the mold must be designed to withstand the pressure generated by the custom injection machine.</a:t>
            </a:r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A1314431-09CD-A571-4102-A63FBE5EB263}"/>
              </a:ext>
            </a:extLst>
          </p:cNvPr>
          <p:cNvSpPr/>
          <p:nvPr/>
        </p:nvSpPr>
        <p:spPr>
          <a:xfrm>
            <a:off x="320040" y="2262524"/>
            <a:ext cx="4206240" cy="77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405C3A5F-793F-4671-F2EE-4904284A73DE}"/>
              </a:ext>
            </a:extLst>
          </p:cNvPr>
          <p:cNvSpPr/>
          <p:nvPr/>
        </p:nvSpPr>
        <p:spPr>
          <a:xfrm>
            <a:off x="320040" y="2262524"/>
            <a:ext cx="164592" cy="7741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1986E7-3A38-F9AC-AE0F-BC396167ECCD}"/>
              </a:ext>
            </a:extLst>
          </p:cNvPr>
          <p:cNvSpPr txBox="1"/>
          <p:nvPr/>
        </p:nvSpPr>
        <p:spPr>
          <a:xfrm>
            <a:off x="555342" y="2350134"/>
            <a:ext cx="39113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Type of print:</a:t>
            </a:r>
          </a:p>
          <a:p>
            <a:r>
              <a:rPr lang="en-US" sz="950" dirty="0"/>
              <a:t>Considering that there are multiple options for the printing of the mold we must find the suitable option(FDM, resin, </a:t>
            </a:r>
            <a:r>
              <a:rPr lang="en-US" sz="950" dirty="0" err="1"/>
              <a:t>ect</a:t>
            </a:r>
            <a:r>
              <a:rPr lang="en-US" sz="950" dirty="0"/>
              <a:t>.)</a:t>
            </a: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88503CE9-00AB-FF7B-4843-5589DAC9296C}"/>
              </a:ext>
            </a:extLst>
          </p:cNvPr>
          <p:cNvSpPr/>
          <p:nvPr/>
        </p:nvSpPr>
        <p:spPr>
          <a:xfrm>
            <a:off x="4748034" y="2262524"/>
            <a:ext cx="4206240" cy="77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BA08B63E-DEAC-6539-17B0-46B2D6E903E3}"/>
              </a:ext>
            </a:extLst>
          </p:cNvPr>
          <p:cNvSpPr/>
          <p:nvPr/>
        </p:nvSpPr>
        <p:spPr>
          <a:xfrm>
            <a:off x="4748034" y="2262524"/>
            <a:ext cx="164592" cy="7741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E5BF95-D21C-CD2F-3CBB-4A3F42C69D77}"/>
              </a:ext>
            </a:extLst>
          </p:cNvPr>
          <p:cNvSpPr txBox="1"/>
          <p:nvPr/>
        </p:nvSpPr>
        <p:spPr>
          <a:xfrm>
            <a:off x="4958346" y="2291797"/>
            <a:ext cx="391133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Expected production volume:</a:t>
            </a:r>
          </a:p>
          <a:p>
            <a:r>
              <a:rPr lang="en-US" sz="950" dirty="0"/>
              <a:t>Since this parameter is directly connected to the tool life we should have an average number.</a:t>
            </a:r>
            <a:r>
              <a:rPr lang="en-GB" sz="1000" dirty="0"/>
              <a:t> 3D printed resin </a:t>
            </a:r>
            <a:r>
              <a:rPr lang="en-GB" sz="1000" dirty="0" err="1"/>
              <a:t>molds</a:t>
            </a:r>
            <a:r>
              <a:rPr lang="en-GB" sz="1000" dirty="0"/>
              <a:t> typically degrade after 10 to 100 shots due to thermal fatigue and mechanical wear during ejection. </a:t>
            </a:r>
            <a:endParaRPr lang="en-US" sz="95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5DD7B012-3BED-EEAB-6E6F-1FDD02E1A28D}"/>
              </a:ext>
            </a:extLst>
          </p:cNvPr>
          <p:cNvSpPr/>
          <p:nvPr/>
        </p:nvSpPr>
        <p:spPr>
          <a:xfrm>
            <a:off x="4728469" y="1188720"/>
            <a:ext cx="4206240" cy="77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A03BDDAE-1250-229E-56B5-B57C80C4653E}"/>
              </a:ext>
            </a:extLst>
          </p:cNvPr>
          <p:cNvSpPr/>
          <p:nvPr/>
        </p:nvSpPr>
        <p:spPr>
          <a:xfrm>
            <a:off x="4728469" y="1188720"/>
            <a:ext cx="164592" cy="7741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155887-D19C-2F13-00DB-37228CB86917}"/>
              </a:ext>
            </a:extLst>
          </p:cNvPr>
          <p:cNvSpPr txBox="1"/>
          <p:nvPr/>
        </p:nvSpPr>
        <p:spPr>
          <a:xfrm>
            <a:off x="4912626" y="1255954"/>
            <a:ext cx="3911334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Desired tool geometry:</a:t>
            </a:r>
          </a:p>
          <a:p>
            <a:r>
              <a:rPr lang="en-US" sz="950" dirty="0"/>
              <a:t>Considering the response we got from </a:t>
            </a:r>
            <a:r>
              <a:rPr lang="en-US" sz="950" dirty="0" err="1"/>
              <a:t>Mr.Tamas</a:t>
            </a:r>
            <a:r>
              <a:rPr lang="en-US" sz="950" dirty="0"/>
              <a:t> that they are using shredded HDPE  mainly we will have to consider the tool geometry we can achieve within the range of 190-210°C.</a:t>
            </a:r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00C6BB5C-F4DF-C1A9-41E1-D9EA24A385F2}"/>
              </a:ext>
            </a:extLst>
          </p:cNvPr>
          <p:cNvSpPr/>
          <p:nvPr/>
        </p:nvSpPr>
        <p:spPr>
          <a:xfrm>
            <a:off x="2468880" y="3417570"/>
            <a:ext cx="4206240" cy="77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E6C3C1E6-0F25-80D7-8653-F25B1B58AAFF}"/>
              </a:ext>
            </a:extLst>
          </p:cNvPr>
          <p:cNvSpPr/>
          <p:nvPr/>
        </p:nvSpPr>
        <p:spPr>
          <a:xfrm>
            <a:off x="2468880" y="3417570"/>
            <a:ext cx="164592" cy="7741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423279-C488-ABDF-3BE9-8995916CC1AE}"/>
              </a:ext>
            </a:extLst>
          </p:cNvPr>
          <p:cNvSpPr txBox="1"/>
          <p:nvPr/>
        </p:nvSpPr>
        <p:spPr>
          <a:xfrm>
            <a:off x="2704182" y="3505180"/>
            <a:ext cx="3911334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Budget and cost:</a:t>
            </a:r>
          </a:p>
          <a:p>
            <a:r>
              <a:rPr lang="en-US" sz="1100" dirty="0"/>
              <a:t>Due to low life expectancy of the 3D printed molds we need to find suitable cost efficient material.</a:t>
            </a:r>
          </a:p>
          <a:p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39680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E13E4-04E1-907E-573D-9EFFFCBCA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44E378-B569-7FD1-A509-C3D25FBB4BAC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8221A0-51CA-86BF-60D3-A03B575F38E8}"/>
              </a:ext>
            </a:extLst>
          </p:cNvPr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BE8412-B2C6-8FB8-7286-E55ECEF305BF}"/>
              </a:ext>
            </a:extLst>
          </p:cNvPr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</a:rPr>
              <a:t>Comparison of FDM and Photopolymer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1B137F5-1227-B72D-45D2-08EFFE256666}"/>
              </a:ext>
            </a:extLst>
          </p:cNvPr>
          <p:cNvSpPr/>
          <p:nvPr/>
        </p:nvSpPr>
        <p:spPr>
          <a:xfrm>
            <a:off x="320039" y="1097280"/>
            <a:ext cx="822074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algn="ctr"/>
            <a:r>
              <a:rPr lang="en-US" sz="950" dirty="0"/>
              <a:t>Both of the options has been around long enough where there has been lots development and research. Resin printing has been </a:t>
            </a:r>
            <a:r>
              <a:rPr lang="en-US" sz="950" dirty="0" err="1"/>
              <a:t>favoured</a:t>
            </a:r>
            <a:r>
              <a:rPr lang="en-US" sz="950" dirty="0"/>
              <a:t> by the industry but advancements are still being made in FDM printing considering injection molding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CBDCF84-669B-AC07-AAD5-6E03F98AA9DC}"/>
              </a:ext>
            </a:extLst>
          </p:cNvPr>
          <p:cNvSpPr/>
          <p:nvPr/>
        </p:nvSpPr>
        <p:spPr>
          <a:xfrm>
            <a:off x="502920" y="1572768"/>
            <a:ext cx="3657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2CB9E49-313B-7D00-07D1-17755C09D315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621A5CB-8172-4EA7-5169-A92E9A4DBFEF}"/>
              </a:ext>
            </a:extLst>
          </p:cNvPr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B0"/>
                </a:solidFill>
              </a:rPr>
              <a:t>Project Work  ·  Week 03  ·  BME GT3</a:t>
            </a:r>
            <a:endParaRPr lang="en-US" sz="90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5A35C32E-7996-FBFC-47FB-CD84DD4480FA}"/>
              </a:ext>
            </a:extLst>
          </p:cNvPr>
          <p:cNvSpPr/>
          <p:nvPr/>
        </p:nvSpPr>
        <p:spPr>
          <a:xfrm>
            <a:off x="4709160" y="1719168"/>
            <a:ext cx="4206240" cy="28150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D757C040-52E9-683A-A03F-C1C7C6108B3E}"/>
              </a:ext>
            </a:extLst>
          </p:cNvPr>
          <p:cNvSpPr/>
          <p:nvPr/>
        </p:nvSpPr>
        <p:spPr>
          <a:xfrm>
            <a:off x="4709160" y="1719168"/>
            <a:ext cx="164592" cy="28150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A18337-511F-A1E8-DE81-6AD959818FA8}"/>
              </a:ext>
            </a:extLst>
          </p:cNvPr>
          <p:cNvSpPr txBox="1"/>
          <p:nvPr/>
        </p:nvSpPr>
        <p:spPr>
          <a:xfrm>
            <a:off x="4893317" y="1786402"/>
            <a:ext cx="3911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FDM Printing:</a:t>
            </a:r>
          </a:p>
          <a:p>
            <a:r>
              <a:rPr lang="en-US" sz="1100" dirty="0"/>
              <a:t>Manufacturing with </a:t>
            </a:r>
            <a:r>
              <a:rPr lang="en-US" sz="1100" dirty="0" err="1"/>
              <a:t>fdm</a:t>
            </a:r>
            <a:r>
              <a:rPr lang="en-US" sz="1100" dirty="0"/>
              <a:t> printing is much easier with very little training needed. For post processing unless extra detailed is desired it can be used immediately after printing.</a:t>
            </a:r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34F0F505-F3FE-C328-BA4A-6F83E2215368}"/>
              </a:ext>
            </a:extLst>
          </p:cNvPr>
          <p:cNvSpPr/>
          <p:nvPr/>
        </p:nvSpPr>
        <p:spPr>
          <a:xfrm>
            <a:off x="320039" y="1719167"/>
            <a:ext cx="4206240" cy="2824107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4B6BF640-89B6-5F3A-FE75-72D15392FD51}"/>
              </a:ext>
            </a:extLst>
          </p:cNvPr>
          <p:cNvSpPr/>
          <p:nvPr/>
        </p:nvSpPr>
        <p:spPr>
          <a:xfrm>
            <a:off x="320039" y="1719167"/>
            <a:ext cx="164592" cy="2824107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B4315A-8418-E3D9-C0B0-8A56522DEA8B}"/>
              </a:ext>
            </a:extLst>
          </p:cNvPr>
          <p:cNvSpPr txBox="1"/>
          <p:nvPr/>
        </p:nvSpPr>
        <p:spPr>
          <a:xfrm>
            <a:off x="504196" y="1786402"/>
            <a:ext cx="3911334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Photopolymer Printing:</a:t>
            </a:r>
          </a:p>
          <a:p>
            <a:r>
              <a:rPr lang="en-US" sz="950" dirty="0"/>
              <a:t>In this type of printing we can not only consider the printing itself. Post process of photopolymer printing is as important as the printing itself. In general photopolymer printing consists of 3 main steps.</a:t>
            </a:r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330E5378-C7B0-68DE-6BAB-C27A668B5095}"/>
              </a:ext>
            </a:extLst>
          </p:cNvPr>
          <p:cNvSpPr/>
          <p:nvPr/>
        </p:nvSpPr>
        <p:spPr>
          <a:xfrm>
            <a:off x="1613364" y="2553828"/>
            <a:ext cx="1795289" cy="4082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57220ADF-5E02-FCBC-2051-EC46EB4682F0}"/>
              </a:ext>
            </a:extLst>
          </p:cNvPr>
          <p:cNvSpPr/>
          <p:nvPr/>
        </p:nvSpPr>
        <p:spPr>
          <a:xfrm>
            <a:off x="655921" y="2478744"/>
            <a:ext cx="360461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</a:rPr>
              <a:t>Printing→ Washing→ Curing</a:t>
            </a:r>
            <a:endParaRPr lang="en-US" sz="9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E8C0A7-7826-78B9-3AA0-8D82D78293F2}"/>
              </a:ext>
            </a:extLst>
          </p:cNvPr>
          <p:cNvSpPr txBox="1"/>
          <p:nvPr/>
        </p:nvSpPr>
        <p:spPr>
          <a:xfrm>
            <a:off x="629428" y="3076330"/>
            <a:ext cx="3657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/>
              <a:t>All 3 of these steps require their own tools and </a:t>
            </a:r>
            <a:r>
              <a:rPr lang="en-US" sz="950" dirty="0" err="1"/>
              <a:t>equipments</a:t>
            </a:r>
            <a:r>
              <a:rPr lang="en-US" sz="950" dirty="0"/>
              <a:t>. Which has to be monitored and used by trained </a:t>
            </a:r>
            <a:r>
              <a:rPr lang="en-US" sz="950" dirty="0" err="1"/>
              <a:t>personel</a:t>
            </a:r>
            <a:r>
              <a:rPr lang="en-US" sz="950" dirty="0"/>
              <a:t>. Material used is toxic and releases fumes during printing. Main limiting factor of this type of printing is the print size.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61FC832-FF82-EA97-79C7-03B4466C5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417" y="2571750"/>
            <a:ext cx="2006971" cy="94681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46D2406-7B5D-E199-34E5-23FB5B8A00CA}"/>
              </a:ext>
            </a:extLst>
          </p:cNvPr>
          <p:cNvSpPr txBox="1"/>
          <p:nvPr/>
        </p:nvSpPr>
        <p:spPr>
          <a:xfrm>
            <a:off x="5031594" y="3648025"/>
            <a:ext cx="36958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/>
              <a:t>Depending on desired quality sanding might be needed to get rid of print lines. Main limiting factor would be filament cost.</a:t>
            </a:r>
          </a:p>
        </p:txBody>
      </p:sp>
    </p:spTree>
    <p:extLst>
      <p:ext uri="{BB962C8B-B14F-4D97-AF65-F5344CB8AC3E}">
        <p14:creationId xmlns:p14="http://schemas.microsoft.com/office/powerpoint/2010/main" val="1806575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ECC71"/>
        </a:solidFill>
        <a:ln w="12700">
          <a:solidFill>
            <a:srgbClr val="2ECC71"/>
          </a:solidFill>
          <a:prstDash val="solid"/>
        </a:ln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</Words>
  <Application>Microsoft Office PowerPoint</Application>
  <PresentationFormat>On-screen Show (16:9)</PresentationFormat>
  <Paragraphs>166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 – Week 1 Report</dc:title>
  <dc:subject>PptxGenJS Presentation</dc:subject>
  <dc:creator>PptxGenJS</dc:creator>
  <cp:lastModifiedBy>36707435939</cp:lastModifiedBy>
  <cp:revision>3</cp:revision>
  <dcterms:created xsi:type="dcterms:W3CDTF">2026-02-22T23:37:25Z</dcterms:created>
  <dcterms:modified xsi:type="dcterms:W3CDTF">2026-03-06T20:30:32Z</dcterms:modified>
</cp:coreProperties>
</file>